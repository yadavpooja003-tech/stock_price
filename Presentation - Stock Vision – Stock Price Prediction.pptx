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  <p:embeddedFont>
      <p:font typeface="Helvetica World Bold" panose="020B0604020202020204" charset="-128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eorgia Pro Condense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2D598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8382635"/>
            <a:ext cx="6886575" cy="123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u="none" strike="noStrike" spc="-57" dirty="0">
                <a:solidFill>
                  <a:srgbClr val="C8D9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Pooja (GU-2024-1740), MCA 3rd, GNA University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380" y="975068"/>
            <a:ext cx="9754495" cy="579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u="none" strike="noStrike" spc="-523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Stock Vision – Stock Price Prediction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C8D9F1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05025" y="1562100"/>
            <a:ext cx="9763125" cy="4927600"/>
            <a:chOff x="0" y="0"/>
            <a:chExt cx="13017500" cy="6570133"/>
          </a:xfrm>
        </p:grpSpPr>
        <p:sp>
          <p:nvSpPr>
            <p:cNvPr id="6" name="TextBox 6"/>
            <p:cNvSpPr txBox="1"/>
            <p:nvPr/>
          </p:nvSpPr>
          <p:spPr>
            <a:xfrm>
              <a:off x="0" y="1196975"/>
              <a:ext cx="13017500" cy="5373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4971A5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stock market is inherently volatile, influenced by various </a:t>
              </a:r>
              <a:r>
                <a:rPr lang="en-US" sz="2499" b="1" spc="-37">
                  <a:solidFill>
                    <a:srgbClr val="4971A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economic</a:t>
              </a:r>
              <a:r>
                <a:rPr lang="en-US" sz="2499" spc="-37">
                  <a:solidFill>
                    <a:srgbClr val="4971A5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</a:t>
              </a:r>
              <a:r>
                <a:rPr lang="en-US" sz="2499" b="1" spc="-37">
                  <a:solidFill>
                    <a:srgbClr val="4971A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political</a:t>
              </a:r>
              <a:r>
                <a:rPr lang="en-US" sz="2499" spc="-37">
                  <a:solidFill>
                    <a:srgbClr val="4971A5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and </a:t>
              </a:r>
              <a:r>
                <a:rPr lang="en-US" sz="2499" b="1" spc="-37">
                  <a:solidFill>
                    <a:srgbClr val="4971A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global factors</a:t>
              </a:r>
              <a:r>
                <a:rPr lang="en-US" sz="2499" spc="-37">
                  <a:solidFill>
                    <a:srgbClr val="4971A5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With these fluctuations, it has become increasingly important for investors to have systems in place that can effectively analyze market variations and provide accurate insights. Machine Learning has emerged as a </a:t>
              </a:r>
              <a:r>
                <a:rPr lang="en-US" sz="2499" b="1" spc="-37">
                  <a:solidFill>
                    <a:srgbClr val="4971A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powerful tool</a:t>
              </a:r>
              <a:r>
                <a:rPr lang="en-US" sz="2499" spc="-37">
                  <a:solidFill>
                    <a:srgbClr val="4971A5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 this regard, enabling sophisticated financial time-series forecasting. The "Stock Vision" platform aims to simplify the investor's decision-making process by integrating data collection, visualization, and prediction in a user-friendly web interface, ultimately enhancing investment strategies.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30175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4971A5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the importance of stock predictions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8D9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D598A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65383" cy="240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539749" lvl="1" indent="-269875" algn="l">
                <a:lnSpc>
                  <a:spcPts val="3499"/>
                </a:lnSpc>
                <a:buAutoNum type="arabicPeriod"/>
              </a:pPr>
              <a:r>
                <a:rPr lang="en-US" sz="2499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Predicting stock prices manually is extremely challenging and imprecise.</a:t>
              </a:r>
            </a:p>
            <a:p>
              <a:pPr marL="539749" lvl="1" indent="-269875" algn="l">
                <a:lnSpc>
                  <a:spcPts val="3499"/>
                </a:lnSpc>
                <a:buAutoNum type="arabicPeriod"/>
              </a:pPr>
              <a:r>
                <a:rPr lang="en-US" sz="2499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Traditional analysis methods cannot handle large datasets efficiently.</a:t>
              </a:r>
            </a:p>
            <a:p>
              <a:pPr marL="539749" lvl="1" indent="-269875" algn="l">
                <a:lnSpc>
                  <a:spcPts val="3499"/>
                </a:lnSpc>
                <a:buAutoNum type="arabicPeriod"/>
              </a:pPr>
              <a:r>
                <a:rPr lang="en-US" sz="2499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Investors lack a central platform that combines real-time data, analytics, and ML predictions.</a:t>
              </a:r>
            </a:p>
            <a:p>
              <a:pPr marL="539749" lvl="1" indent="-269875" algn="l">
                <a:lnSpc>
                  <a:spcPts val="3499"/>
                </a:lnSpc>
                <a:buAutoNum type="arabicPeriod"/>
              </a:pPr>
              <a:r>
                <a:rPr lang="en-US" sz="2499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Stock volatility makes it difficult to identify trends without computational support.</a:t>
              </a:r>
            </a:p>
            <a:p>
              <a:pPr marL="539749" lvl="1" indent="-269875" algn="l">
                <a:lnSpc>
                  <a:spcPts val="3499"/>
                </a:lnSpc>
                <a:buAutoNum type="arabicPeriod"/>
              </a:pPr>
              <a:r>
                <a:rPr lang="en-US" sz="2499" spc="64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There is a need for a tool that provides clear visual insights + reliable predictions to assist users.</a:t>
              </a:r>
            </a:p>
            <a:p>
              <a:pPr algn="l">
                <a:lnSpc>
                  <a:spcPts val="3499"/>
                </a:lnSpc>
              </a:pPr>
              <a:endParaRPr lang="en-US" sz="2499" spc="64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77715" y="1028700"/>
            <a:ext cx="12944475" cy="2067009"/>
            <a:chOff x="0" y="0"/>
            <a:chExt cx="172593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2593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C8D9F1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Problem Statement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2593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Challenges in Stock Price Prediction</a:t>
              </a:r>
            </a:p>
          </p:txBody>
        </p:sp>
      </p:grpSp>
      <p:sp>
        <p:nvSpPr>
          <p:cNvPr id="9" name="Freeform 9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8D9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D598A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562100"/>
            <a:ext cx="13249275" cy="2067009"/>
            <a:chOff x="0" y="0"/>
            <a:chExt cx="17665700" cy="2756012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C8D9F1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Project Objectives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568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goals for Stock Vision implementation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225675"/>
            <a:chOff x="0" y="0"/>
            <a:chExt cx="5744662" cy="29675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Functional System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1907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Build a </a:t>
              </a:r>
              <a:r>
                <a:rPr lang="en-US" sz="2000" b="1" u="none" strike="noStrike" spc="-30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fully operational</a:t>
              </a:r>
              <a:r>
                <a:rPr lang="en-US" sz="2000" u="none" strike="noStrike" spc="-30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machine learning-based stock prediction system that efficiently analyzes market data and provides reliable forecasts for investors.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2959100"/>
            <a:chOff x="0" y="0"/>
            <a:chExt cx="5346700" cy="39454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Automation Process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2885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Automate the </a:t>
              </a:r>
              <a:r>
                <a:rPr lang="en-US" sz="2000" b="1" u="none" strike="noStrike" spc="-30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fetching and preprocessing</a:t>
              </a:r>
              <a:r>
                <a:rPr lang="en-US" sz="2000" u="none" strike="noStrike" spc="-30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real-time historical stock data to ensure accuracy and timeliness in predictions, enhancing user experience and system reliability.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2959100"/>
            <a:chOff x="0" y="0"/>
            <a:chExt cx="5346700" cy="39454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Advanced Prediction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2885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Implement LSTM (Long Short-Term Memory) models to achieve </a:t>
              </a:r>
              <a:r>
                <a:rPr lang="en-US" sz="2000" b="1" u="none" strike="noStrike" spc="-30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high accuracy</a:t>
              </a:r>
              <a:r>
                <a:rPr lang="en-US" sz="2000" u="none" strike="noStrike" spc="-30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in time-series predictions, leveraging sequential patterns in stock prices to inform investment decisions.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System Architecture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05025" y="2463165"/>
            <a:ext cx="6886575" cy="1370648"/>
            <a:chOff x="0" y="0"/>
            <a:chExt cx="9182100" cy="182753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User Interface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95189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Streamlit provides a user-friendly input interface.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05025" y="7827169"/>
            <a:ext cx="6886575" cy="1826419"/>
            <a:chOff x="0" y="0"/>
            <a:chExt cx="9182100" cy="2435225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Preprocessing Layer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356783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Preprocessing enhances data for accurate model predictions.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5149215"/>
            <a:ext cx="6886575" cy="1370648"/>
            <a:chOff x="0" y="0"/>
            <a:chExt cx="9182100" cy="182753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Prediction Display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295189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Real-time trends are showcased for user analysis.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05025" y="5141119"/>
            <a:ext cx="6886575" cy="1826419"/>
            <a:chOff x="0" y="0"/>
            <a:chExt cx="9182100" cy="243522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API Layer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356783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Yahoo Finance supplies historical stock data efficiently.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244792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750" y="782574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96400" y="245364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96400" y="513969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" y="513397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734675" y="2463165"/>
            <a:ext cx="6886575" cy="1780223"/>
            <a:chOff x="0" y="0"/>
            <a:chExt cx="9182100" cy="237363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Visualization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Visualizations display data trends and predictions clearly.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Methodology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05025" y="2463165"/>
            <a:ext cx="6886575" cy="1370648"/>
            <a:chOff x="0" y="0"/>
            <a:chExt cx="9182100" cy="182753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Collection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95189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Utilizes yfinance for historical stock data.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05025" y="7827169"/>
            <a:ext cx="6886575" cy="1826419"/>
            <a:chOff x="0" y="0"/>
            <a:chExt cx="9182100" cy="2435225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Transformation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356783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Converts data into suitable formats for LSTM training.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5149215"/>
            <a:ext cx="6886575" cy="1780223"/>
            <a:chOff x="0" y="0"/>
            <a:chExt cx="9182100" cy="237363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Evaluation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Analyzes performance using RMSE and MSE metrics.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05025" y="5141119"/>
            <a:ext cx="6886575" cy="1826419"/>
            <a:chOff x="0" y="0"/>
            <a:chExt cx="9182100" cy="243522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Cleaning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356783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Prepares data by removing inconsistencies and missing values.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244792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750" y="782574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96400" y="245364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96400" y="513969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" y="513397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734675" y="2463165"/>
            <a:ext cx="6886575" cy="1370648"/>
            <a:chOff x="0" y="0"/>
            <a:chExt cx="9182100" cy="182753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Model Development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295189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Involves designing and training LSTM layers.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Technologies Used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05025" y="2463165"/>
            <a:ext cx="6886575" cy="1370648"/>
            <a:chOff x="0" y="0"/>
            <a:chExt cx="9182100" cy="182753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Python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95189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Python is the core programming language utilized.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05025" y="7827169"/>
            <a:ext cx="6886575" cy="1826419"/>
            <a:chOff x="0" y="0"/>
            <a:chExt cx="9182100" cy="2435225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Matplotlib &amp; Plotly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356783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They provide stunning visualizations of data and predictions.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5149215"/>
            <a:ext cx="6886575" cy="1780223"/>
            <a:chOff x="0" y="0"/>
            <a:chExt cx="9182100" cy="237363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Streamlit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Streamlit deploys the machine learning application effectively.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05025" y="5141119"/>
            <a:ext cx="6886575" cy="1826419"/>
            <a:chOff x="0" y="0"/>
            <a:chExt cx="9182100" cy="243522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NumPy &amp; Pandas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356783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Used for powerful data manipulation and analysis tasks.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244792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750" y="782574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96400" y="245364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96400" y="513969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" y="513397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734675" y="2463165"/>
            <a:ext cx="6886575" cy="1780223"/>
            <a:chOff x="0" y="0"/>
            <a:chExt cx="9182100" cy="237363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TensorFlow/Keras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TensorFlow/Keras builds and trains neural network models.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 Preprocessing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05025" y="2463165"/>
            <a:ext cx="6886575" cy="1780223"/>
            <a:chOff x="0" y="0"/>
            <a:chExt cx="9182100" cy="237363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Features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Relevant features include Open, Close, High, Low, Volume.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105025" y="7827169"/>
            <a:ext cx="6886575" cy="1416844"/>
            <a:chOff x="0" y="0"/>
            <a:chExt cx="9182100" cy="1889125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Test Set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356783"/>
              <a:ext cx="9182100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separate test set is created for validation.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734675" y="5149215"/>
            <a:ext cx="6886575" cy="1780223"/>
            <a:chOff x="0" y="0"/>
            <a:chExt cx="9182100" cy="237363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Sequence Division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 is divided into fixed-length sequences for LSTM.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05025" y="5141119"/>
            <a:ext cx="6886575" cy="1826419"/>
            <a:chOff x="0" y="0"/>
            <a:chExt cx="9182100" cy="243522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Missing Values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356783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Missing data is handled by replacement or removal.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66750" y="244792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750" y="782574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96400" y="245364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96400" y="5139690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" y="513397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734675" y="2463165"/>
            <a:ext cx="6886575" cy="1780223"/>
            <a:chOff x="0" y="0"/>
            <a:chExt cx="9182100" cy="237363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Normalization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 is normalized using Min-Max scaling techniques.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206963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9630" cy="2709333"/>
            </a:xfrm>
            <a:custGeom>
              <a:avLst/>
              <a:gdLst/>
              <a:ahLst/>
              <a:cxnLst/>
              <a:rect l="l" t="t" r="r" b="b"/>
              <a:pathLst>
                <a:path w="2069630" h="2709333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971A5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6963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809625"/>
            <a:ext cx="5448300" cy="308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Visual Analysis Techniques</a:t>
            </a:r>
          </a:p>
        </p:txBody>
      </p:sp>
      <p:sp>
        <p:nvSpPr>
          <p:cNvPr id="6" name="Freeform 6"/>
          <p:cNvSpPr/>
          <p:nvPr/>
        </p:nvSpPr>
        <p:spPr>
          <a:xfrm>
            <a:off x="708153" y="7606302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734675" y="6944836"/>
            <a:ext cx="6886575" cy="1780223"/>
            <a:chOff x="0" y="0"/>
            <a:chExt cx="9182100" cy="237363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Volume Bars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Indicate buying and selling pressure over time visually.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425005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96400" y="1553369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96400" y="6936105"/>
            <a:ext cx="86498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734675" y="4248150"/>
            <a:ext cx="6886575" cy="1780223"/>
            <a:chOff x="0" y="0"/>
            <a:chExt cx="9182100" cy="237363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Candlestick Charts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Provide detailed insights into price patterns and trends.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34675" y="1562100"/>
            <a:ext cx="6886575" cy="1780223"/>
            <a:chOff x="0" y="0"/>
            <a:chExt cx="9182100" cy="237363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9525"/>
              <a:ext cx="91821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C8D9F1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 Charts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295189"/>
              <a:ext cx="9182100" cy="1078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u="none" strike="noStrike" spc="-37">
                  <a:solidFill>
                    <a:srgbClr val="C8D9F1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Display stock movement over selected periods effectively.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4971A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296400" y="8382635"/>
            <a:ext cx="8324850" cy="123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spc="-57">
                <a:solidFill>
                  <a:srgbClr val="C8D9F1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Empowering investment decisions through ML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03759" y="942975"/>
            <a:ext cx="8317491" cy="199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C8D9F1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Conclusion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996672" y="4156408"/>
            <a:ext cx="9624578" cy="324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577" lvl="1" indent="-241288" algn="l">
              <a:lnSpc>
                <a:spcPts val="2682"/>
              </a:lnSpc>
              <a:buFont typeface="Arial"/>
              <a:buChar char="•"/>
            </a:pPr>
            <a:r>
              <a:rPr lang="en-US" sz="2235" b="1" spc="-33">
                <a:solidFill>
                  <a:srgbClr val="C8D9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Stock Vision” successfully predicts future stock prices using LSTM.</a:t>
            </a:r>
          </a:p>
          <a:p>
            <a:pPr marL="482577" lvl="1" indent="-241288" algn="l">
              <a:lnSpc>
                <a:spcPts val="2682"/>
              </a:lnSpc>
              <a:buFont typeface="Arial"/>
              <a:buChar char="•"/>
            </a:pPr>
            <a:r>
              <a:rPr lang="en-US" sz="2235" b="1" spc="-33">
                <a:solidFill>
                  <a:srgbClr val="C8D9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Integrates end-to-end workflow: data collection, preprocessing, modeling, and deployment.</a:t>
            </a:r>
          </a:p>
          <a:p>
            <a:pPr marL="482577" lvl="1" indent="-241288" algn="l">
              <a:lnSpc>
                <a:spcPts val="2682"/>
              </a:lnSpc>
              <a:buFont typeface="Arial"/>
              <a:buChar char="•"/>
            </a:pPr>
            <a:r>
              <a:rPr lang="en-US" sz="2235" b="1" spc="-33">
                <a:solidFill>
                  <a:srgbClr val="C8D9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Provides intuitive visualizations that support decision-making.</a:t>
            </a:r>
          </a:p>
          <a:p>
            <a:pPr marL="482577" lvl="1" indent="-241288" algn="l">
              <a:lnSpc>
                <a:spcPts val="2682"/>
              </a:lnSpc>
              <a:buFont typeface="Arial"/>
              <a:buChar char="•"/>
            </a:pPr>
            <a:r>
              <a:rPr lang="en-US" sz="2235" b="1" spc="-33">
                <a:solidFill>
                  <a:srgbClr val="C8D9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Offers a fast, lightweight platform suitable for learners, traders, and researchers.</a:t>
            </a:r>
          </a:p>
          <a:p>
            <a:pPr marL="482577" lvl="1" indent="-241288" algn="l">
              <a:lnSpc>
                <a:spcPts val="2682"/>
              </a:lnSpc>
              <a:buFont typeface="Arial"/>
              <a:buChar char="•"/>
            </a:pPr>
            <a:r>
              <a:rPr lang="en-US" sz="2235" b="1" spc="-33">
                <a:solidFill>
                  <a:srgbClr val="C8D9F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Meets project goals by delivering a functional, interpretable prediction tool.</a:t>
            </a:r>
          </a:p>
          <a:p>
            <a:pPr marL="482577" lvl="1" indent="-241288" algn="l">
              <a:lnSpc>
                <a:spcPts val="2682"/>
              </a:lnSpc>
              <a:buFont typeface="Arial"/>
              <a:buChar char="•"/>
            </a:pPr>
            <a:endParaRPr lang="en-US" sz="2235" b="1" spc="-33">
              <a:solidFill>
                <a:srgbClr val="C8D9F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617</Words>
  <Application>Microsoft Office PowerPoint</Application>
  <PresentationFormat>Custom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Helvetica World</vt:lpstr>
      <vt:lpstr>Georgia Pro Condensed</vt:lpstr>
      <vt:lpstr>Helvetica World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Stock Vision – Stock Price Prediction</dc:title>
  <dc:description>Presentation - Stock Vision – Stock Price Prediction</dc:description>
  <cp:lastModifiedBy>Pooja Yadav</cp:lastModifiedBy>
  <cp:revision>2</cp:revision>
  <dcterms:created xsi:type="dcterms:W3CDTF">2006-08-16T00:00:00Z</dcterms:created>
  <dcterms:modified xsi:type="dcterms:W3CDTF">2025-11-28T13:58:46Z</dcterms:modified>
  <dc:identifier>DAG5_eNfKI8</dc:identifier>
</cp:coreProperties>
</file>